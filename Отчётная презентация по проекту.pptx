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6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10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A%D0%B0%D1%81%D0%BF%D0%B8%D0%B9_(%D0%B0%D0%B2%D1%82%D0%BE%D0%B4%D0%BE%D1%80%D0%BE%D0%B3%D0%B0)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83017" y="-9144"/>
            <a:ext cx="4114800" cy="3730751"/>
          </a:xfrm>
          <a:prstGeom prst="ellipse">
            <a:avLst/>
          </a:prstGeom>
          <a:solidFill>
            <a:srgbClr val="1E3A52"/>
          </a:solidFill>
          <a:ln>
            <a:solidFill>
              <a:srgbClr val="1E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64841" y="364617"/>
            <a:ext cx="2651760" cy="2379726"/>
          </a:xfrm>
          <a:prstGeom prst="ellipse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8B8B"/>
                </a:solidFill>
                <a:latin typeface="Calibri"/>
              </a:defRPr>
            </a:pPr>
            <a:r>
              <a:rPr dirty="0"/>
              <a:t>БЕЛЛИГЕРАТИВНЫЕ ЛАНДШАФТЫ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508" y="653385"/>
            <a:ext cx="90400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обнаружения</a:t>
            </a:r>
            <a:br>
              <a:rPr dirty="0"/>
            </a:br>
            <a:r>
              <a:rPr dirty="0"/>
              <a:t>и </a:t>
            </a:r>
            <a:r>
              <a:rPr dirty="0" err="1"/>
              <a:t>картографирования</a:t>
            </a:r>
            <a:br>
              <a:rPr dirty="0"/>
            </a:br>
            <a:r>
              <a:rPr dirty="0" err="1"/>
              <a:t>маркеров</a:t>
            </a:r>
            <a:r>
              <a:rPr lang="ru-RU" dirty="0"/>
              <a:t> </a:t>
            </a:r>
            <a:r>
              <a:rPr lang="ru-RU" sz="3600" b="1" dirty="0" err="1">
                <a:solidFill>
                  <a:srgbClr val="FFFFFF"/>
                </a:solidFill>
                <a:latin typeface="Calibri"/>
              </a:rPr>
              <a:t>беллигеративных</a:t>
            </a:r>
            <a:r>
              <a:rPr lang="ru-RU" sz="3600" b="1" dirty="0">
                <a:solidFill>
                  <a:srgbClr val="FFFFFF"/>
                </a:solidFill>
                <a:latin typeface="Calibri"/>
              </a:rPr>
              <a:t> ландшафтов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21885" y="281729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6E4EE"/>
                </a:solidFill>
                <a:latin typeface="Calibri"/>
              </a:defRPr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БПЛА и </a:t>
            </a:r>
            <a:r>
              <a:rPr dirty="0" err="1"/>
              <a:t>машинного</a:t>
            </a:r>
            <a:r>
              <a:rPr dirty="0"/>
              <a:t> </a:t>
            </a:r>
            <a:r>
              <a:rPr dirty="0" err="1"/>
              <a:t>зрения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08709" y="2571750"/>
            <a:ext cx="2560320" cy="36576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6271A-AF94-FAB1-F69A-0B387E35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474098-0E6C-8CC5-4ABC-AF3167D041FA}"/>
              </a:ext>
            </a:extLst>
          </p:cNvPr>
          <p:cNvSpPr/>
          <p:nvPr/>
        </p:nvSpPr>
        <p:spPr>
          <a:xfrm>
            <a:off x="68580" y="36575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7365A3-9221-25BB-9542-45485B70278F}"/>
              </a:ext>
            </a:extLst>
          </p:cNvPr>
          <p:cNvSpPr txBox="1"/>
          <p:nvPr/>
        </p:nvSpPr>
        <p:spPr>
          <a:xfrm>
            <a:off x="365760" y="54864"/>
            <a:ext cx="49255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ru-RU" dirty="0"/>
              <a:t>Что такое </a:t>
            </a:r>
            <a:r>
              <a:rPr lang="ru-RU" dirty="0" err="1"/>
              <a:t>беллигенеративные</a:t>
            </a:r>
            <a:r>
              <a:rPr lang="ru-RU" dirty="0"/>
              <a:t> ландшафты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0F827-5DAA-C0A1-DF58-D0F99CEF5FC5}"/>
              </a:ext>
            </a:extLst>
          </p:cNvPr>
          <p:cNvSpPr/>
          <p:nvPr/>
        </p:nvSpPr>
        <p:spPr>
          <a:xfrm>
            <a:off x="68580" y="640080"/>
            <a:ext cx="4023360" cy="42062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2CFE0-E3C5-3D7E-7E6D-74AF81B12BB9}"/>
              </a:ext>
            </a:extLst>
          </p:cNvPr>
          <p:cNvSpPr txBox="1"/>
          <p:nvPr/>
        </p:nvSpPr>
        <p:spPr>
          <a:xfrm>
            <a:off x="251460" y="987552"/>
            <a:ext cx="3657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ru-RU" sz="2200" b="1" dirty="0" err="1"/>
              <a:t>Беллигеративные</a:t>
            </a:r>
            <a:r>
              <a:rPr lang="ru-RU" sz="2200" b="1" dirty="0"/>
              <a:t> ландшафты — это особый тип антропогенных ландшафтов, сформированных в результате ведения боевых действий, разрушений и создания военных фортификаций.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3" name="Рисунок 62" descr="Беллигеративный ландшафт • Мария Ялбачева • Научная картинка дня на  «Элементах» • Геология">
            <a:extLst>
              <a:ext uri="{FF2B5EF4-FFF2-40B4-BE49-F238E27FC236}">
                <a16:creationId xmlns:a16="http://schemas.microsoft.com/office/drawing/2014/main" id="{FFBF9C1C-A2D4-6BFE-6684-0B83513D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629411"/>
            <a:ext cx="3001955" cy="225094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55DC2C4-862B-6A1B-14F2-F5587719AB97}"/>
              </a:ext>
            </a:extLst>
          </p:cNvPr>
          <p:cNvSpPr txBox="1"/>
          <p:nvPr/>
        </p:nvSpPr>
        <p:spPr>
          <a:xfrm>
            <a:off x="7327392" y="982090"/>
            <a:ext cx="18851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Участок Царицынского вала в районе трассы </a:t>
            </a: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«Каспий»</a:t>
            </a:r>
            <a:br>
              <a:rPr lang="ru-RU" dirty="0"/>
            </a:br>
            <a:r>
              <a:rPr lang="ru-RU" dirty="0"/>
              <a:t>примерно 1720 год.</a:t>
            </a:r>
          </a:p>
        </p:txBody>
      </p:sp>
      <p:pic>
        <p:nvPicPr>
          <p:cNvPr id="65" name="Рисунок 64" descr="Верден">
            <a:extLst>
              <a:ext uri="{FF2B5EF4-FFF2-40B4-BE49-F238E27FC236}">
                <a16:creationId xmlns:a16="http://schemas.microsoft.com/office/drawing/2014/main" id="{0FED0209-8FFC-EEAA-6C50-7768DF97E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3096768"/>
            <a:ext cx="2959839" cy="138939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C1CE77B-589F-6190-BEC9-14AE59E59673}"/>
              </a:ext>
            </a:extLst>
          </p:cNvPr>
          <p:cNvSpPr txBox="1"/>
          <p:nvPr/>
        </p:nvSpPr>
        <p:spPr>
          <a:xfrm>
            <a:off x="7234659" y="3240867"/>
            <a:ext cx="22600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A1A1A"/>
                </a:solidFill>
                <a:effectLst/>
                <a:latin typeface="Gerbera"/>
              </a:rPr>
              <a:t>Следы бомбардировок, Верден, Франция.</a:t>
            </a:r>
            <a:br>
              <a:rPr lang="ru-RU" b="0" i="0" dirty="0">
                <a:solidFill>
                  <a:srgbClr val="1A1A1A"/>
                </a:solidFill>
                <a:effectLst/>
                <a:latin typeface="Gerbera"/>
              </a:rPr>
            </a:br>
            <a:r>
              <a:rPr lang="ru-RU" b="0" i="0" dirty="0">
                <a:solidFill>
                  <a:srgbClr val="1A1A1A"/>
                </a:solidFill>
                <a:effectLst/>
                <a:latin typeface="Gerbera"/>
              </a:rPr>
              <a:t>1916 год.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08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23124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05683" y="143625"/>
            <a:ext cx="354975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sz="1200" dirty="0" err="1"/>
              <a:t>Два</a:t>
            </a:r>
            <a:r>
              <a:rPr sz="1200" dirty="0"/>
              <a:t> </a:t>
            </a:r>
            <a:r>
              <a:rPr sz="1200" dirty="0" err="1"/>
              <a:t>независимых</a:t>
            </a:r>
            <a:r>
              <a:rPr sz="1200" dirty="0"/>
              <a:t> </a:t>
            </a:r>
            <a:r>
              <a:rPr sz="1200" dirty="0" err="1"/>
              <a:t>модуля</a:t>
            </a:r>
            <a:r>
              <a:rPr sz="1200" dirty="0"/>
              <a:t> с </a:t>
            </a:r>
            <a:r>
              <a:rPr sz="1200" dirty="0" err="1"/>
              <a:t>чёткими</a:t>
            </a:r>
            <a:r>
              <a:rPr sz="1200" dirty="0"/>
              <a:t> </a:t>
            </a:r>
            <a:r>
              <a:rPr sz="1200" dirty="0" err="1"/>
              <a:t>интерфейсами</a:t>
            </a:r>
            <a:endParaRPr sz="1200" dirty="0"/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4023360" cy="42062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F8B8B"/>
                </a:solidFill>
                <a:latin typeface="Calibri"/>
              </a:defRPr>
            </a:pPr>
            <a:r>
              <a:t>ЧАСТЬ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Дрон-носитель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D6E4EE"/>
                </a:solidFill>
                <a:latin typeface="Calibri"/>
              </a:defRPr>
            </a:pPr>
            <a:r>
              <a:t>Физическая платформа. Летит, снимает,</a:t>
            </a:r>
            <a:br/>
            <a:r>
              <a:t>сохраняет JPEG + GPS-тег на SD-карту.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4288"/>
            <a:ext cx="3749039" cy="283464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7784" y="2382012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Полётный контроллер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340864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Omnibus F4 SD (STM32F405)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33472"/>
            <a:ext cx="3749039" cy="283464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57784" y="2711196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6700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GPS-модуль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670048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BN-220 • UART3 • 10 Гц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62656"/>
            <a:ext cx="3749039" cy="283464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7784" y="3040379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99923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Приёмник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299923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ELRS NANO CYCLONE (ExpressLRS)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3749039" cy="283464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57784" y="3369564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32841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VTX / FPV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3328416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GEPRC RAD Mini 5.8 ГГц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21024"/>
            <a:ext cx="3749039" cy="283464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57784" y="3698748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6576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Пульт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3657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RadioMaster Pocket (ELRS)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50208"/>
            <a:ext cx="3749039" cy="283464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57784" y="4027931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3986783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Камера + запись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76272" y="3986783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IMX219 + RPi Zero 2W → SD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2382012"/>
            <a:ext cx="457200" cy="361188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06823" y="2368296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SD</a:t>
            </a:r>
            <a:br>
              <a:rPr dirty="0"/>
            </a:br>
            <a:r>
              <a:rPr dirty="0"/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658368"/>
            <a:ext cx="4023360" cy="42062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777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6C00"/>
                </a:solidFill>
                <a:latin typeface="Calibri"/>
              </a:defRPr>
            </a:pPr>
            <a:r>
              <a:t>ЧАСТЬ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10058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Система МЗ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150876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D6E4EE"/>
                </a:solidFill>
                <a:latin typeface="Calibri"/>
              </a:defRPr>
            </a:pPr>
            <a:r>
              <a:rPr dirty="0" err="1"/>
              <a:t>Облачная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.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фото</a:t>
            </a:r>
            <a:r>
              <a:rPr dirty="0"/>
              <a:t>,</a:t>
            </a:r>
            <a:br>
              <a:rPr dirty="0"/>
            </a:br>
            <a:r>
              <a:rPr dirty="0" err="1"/>
              <a:t>запускает</a:t>
            </a:r>
            <a:r>
              <a:rPr dirty="0"/>
              <a:t> YOLOv8,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геометки</a:t>
            </a:r>
            <a:r>
              <a:rPr dirty="0"/>
              <a:t>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304288"/>
            <a:ext cx="3749039" cy="283464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38344" y="2382012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234086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Бортовой</a:t>
            </a:r>
            <a:r>
              <a:rPr dirty="0"/>
              <a:t> </a:t>
            </a:r>
            <a:r>
              <a:rPr dirty="0" err="1"/>
              <a:t>модуль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647688" y="23591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RPi Zero 2W • capture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2633472"/>
            <a:ext cx="3749039" cy="283464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038344" y="2711196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26700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Upload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267004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FastAPI</a:t>
            </a:r>
            <a:r>
              <a:rPr dirty="0"/>
              <a:t> • POST /missions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962656"/>
            <a:ext cx="3749039" cy="283464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038344" y="3040379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30368" y="299923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Детекция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299923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YOLOv8 • Celery worker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291840"/>
            <a:ext cx="3749039" cy="283464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038344" y="3369564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30368" y="3328416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База данных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6832" y="332841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PostgreSQL + PostGIS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3621024"/>
            <a:ext cx="3749039" cy="283464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038344" y="3698748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30368" y="365760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Хранилище фото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6832" y="36576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MinIO / S3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3950208"/>
            <a:ext cx="3749039" cy="283464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038344" y="4027931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230368" y="3986783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Веб-карта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6832" y="3986783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Leaflet • GeoJSON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857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Стек</a:t>
            </a:r>
            <a:r>
              <a:rPr dirty="0"/>
              <a:t> </a:t>
            </a:r>
            <a:r>
              <a:rPr dirty="0" err="1"/>
              <a:t>технологий</a:t>
            </a:r>
            <a:r>
              <a:rPr dirty="0"/>
              <a:t> — </a:t>
            </a:r>
            <a:r>
              <a:rPr dirty="0" err="1"/>
              <a:t>дрон-носитель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74319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Аппаратная</a:t>
            </a:r>
            <a:r>
              <a:rPr dirty="0"/>
              <a:t> </a:t>
            </a:r>
            <a:r>
              <a:rPr dirty="0" err="1"/>
              <a:t>платформа</a:t>
            </a:r>
            <a:r>
              <a:rPr dirty="0"/>
              <a:t> </a:t>
            </a:r>
            <a:r>
              <a:rPr dirty="0" err="1"/>
              <a:t>сбора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291840" y="1355253"/>
            <a:ext cx="2560320" cy="1616547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184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Omnibus F4 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B2A"/>
                </a:solidFill>
                <a:latin typeface="Calibri"/>
              </a:defRPr>
            </a:pPr>
            <a:r>
              <a:t>STM32F405 • 168 МГц • 6×UART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2606040" cy="56692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GPS BN-220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UART3 • uBlox M8N • 10Гц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394460"/>
            <a:ext cx="365760" cy="9144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883664"/>
            <a:ext cx="2606040" cy="56692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93852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ELRS NANO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8541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ExpressLRS • приёмник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162556"/>
            <a:ext cx="365760" cy="9144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2606040" cy="56692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70662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ESC ×4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953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M1–M4 • двигатели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930652"/>
            <a:ext cx="365760" cy="9144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115568"/>
            <a:ext cx="2606040" cy="56692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17043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GEPRC RAD 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41732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VTX 5.8 ГГц • 12В от PDB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1394460"/>
            <a:ext cx="365760" cy="9144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883664"/>
            <a:ext cx="2606040" cy="56692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93852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PDB PTB XT60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8541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Распределение питания • 12В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162556"/>
            <a:ext cx="365760" cy="9144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2651760"/>
            <a:ext cx="2606040" cy="56692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70662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RadioMaster Pocket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5351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A90A0"/>
                </a:solidFill>
                <a:latin typeface="Calibri"/>
              </a:defRPr>
            </a:pPr>
            <a:r>
              <a:t>Пульт • ELRS внутренний модуль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930652"/>
            <a:ext cx="365760" cy="9144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0" y="3401568"/>
            <a:ext cx="3657600" cy="914400"/>
          </a:xfrm>
          <a:prstGeom prst="rect">
            <a:avLst/>
          </a:prstGeom>
          <a:solidFill>
            <a:srgbClr val="1E3A52"/>
          </a:solidFill>
          <a:ln>
            <a:solidFill>
              <a:srgbClr val="1E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3456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RPi Zero 2W — бортовой модуль захвата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37490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picamera2 (CSI-2)  •  GPS UART  •  EXIF-тег  •  SD-карта  •  capture.py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Стек технологий — система машинного зрения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29260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Облачная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• </a:t>
            </a:r>
            <a:r>
              <a:rPr dirty="0" err="1"/>
              <a:t>хранение</a:t>
            </a:r>
            <a:r>
              <a:rPr dirty="0"/>
              <a:t> • </a:t>
            </a:r>
            <a:r>
              <a:rPr dirty="0" err="1"/>
              <a:t>визуализация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292608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658368"/>
            <a:ext cx="2029968" cy="384048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Борт / Сбор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picamera2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Захват JPEG 4K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piexif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EXIF GPS-тег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pynmea2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Парсинг NMEA BN-220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gpxpy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GPX-трек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Бортовой скрипт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79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79" y="658368"/>
            <a:ext cx="2029968" cy="384048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42032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Сервер /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15184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REST Upload + GeoJSON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15184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Celery +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5184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Очередь задач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15184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ORM • миграции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15184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5184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S3 хранилище фото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15184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5184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Деплой VPS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45152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645152" y="658368"/>
            <a:ext cx="2029968" cy="384048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18304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 / Детекция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36592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91456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YOLOv8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1456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Детекция 6 классов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36592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91456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ONNX 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1456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Инференс на CPU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36592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91456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Предобработка кадров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36592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91456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91456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Обучение модели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36592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91456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GDAL / Rasterio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91456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Геопространств. операции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21424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821424" y="658368"/>
            <a:ext cx="2029968" cy="384048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94576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БД / Карта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12864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67728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PostgreSQL 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8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Хранение данных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12864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67728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PostGIS 3.4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67728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Геометрии POINT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12864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67728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rPr dirty="0"/>
              <a:t>Leaflet.js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67728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Интерактивная карта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12864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967728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GeoJSON / KMZ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67728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Экспорт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12864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967728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Heatmap.js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67728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Тепловая карта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37DC9-005D-428C-8873-54FB97F0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330814-73E9-7C55-4D40-3C49097EBDE4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D35991-8BDC-373A-F348-AC4766303394}"/>
              </a:ext>
            </a:extLst>
          </p:cNvPr>
          <p:cNvSpPr txBox="1"/>
          <p:nvPr/>
        </p:nvSpPr>
        <p:spPr>
          <a:xfrm>
            <a:off x="365760" y="5486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Стек технологий — система машинного зрения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0AE8B-94E7-8BCB-EB2E-8C73FEEF426A}"/>
              </a:ext>
            </a:extLst>
          </p:cNvPr>
          <p:cNvSpPr txBox="1"/>
          <p:nvPr/>
        </p:nvSpPr>
        <p:spPr>
          <a:xfrm>
            <a:off x="384048" y="29260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Облачная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• </a:t>
            </a:r>
            <a:r>
              <a:rPr dirty="0" err="1"/>
              <a:t>хранение</a:t>
            </a:r>
            <a:r>
              <a:rPr dirty="0"/>
              <a:t> • </a:t>
            </a:r>
            <a:r>
              <a:rPr dirty="0" err="1"/>
              <a:t>визуализация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C7492C-C558-F9E1-6584-7FC4636C2AF6}"/>
              </a:ext>
            </a:extLst>
          </p:cNvPr>
          <p:cNvSpPr/>
          <p:nvPr/>
        </p:nvSpPr>
        <p:spPr>
          <a:xfrm>
            <a:off x="292608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C1581-ECA2-7146-D290-568DB335380E}"/>
              </a:ext>
            </a:extLst>
          </p:cNvPr>
          <p:cNvSpPr/>
          <p:nvPr/>
        </p:nvSpPr>
        <p:spPr>
          <a:xfrm>
            <a:off x="292608" y="658368"/>
            <a:ext cx="2029968" cy="384048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91008-B8D2-8E68-8C9F-13A1579D8F80}"/>
              </a:ext>
            </a:extLst>
          </p:cNvPr>
          <p:cNvSpPr txBox="1"/>
          <p:nvPr/>
        </p:nvSpPr>
        <p:spPr>
          <a:xfrm>
            <a:off x="365760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Борт / Сбор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3D02FB-2E2B-4B71-11D9-1F828CE27C2B}"/>
              </a:ext>
            </a:extLst>
          </p:cNvPr>
          <p:cNvSpPr/>
          <p:nvPr/>
        </p:nvSpPr>
        <p:spPr>
          <a:xfrm>
            <a:off x="384048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B8180-1DC4-FC69-2F8C-49E737A18BAB}"/>
              </a:ext>
            </a:extLst>
          </p:cNvPr>
          <p:cNvSpPr txBox="1"/>
          <p:nvPr/>
        </p:nvSpPr>
        <p:spPr>
          <a:xfrm>
            <a:off x="438912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picamera2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364A2-522A-1AE3-840A-6BF587E88A09}"/>
              </a:ext>
            </a:extLst>
          </p:cNvPr>
          <p:cNvSpPr txBox="1"/>
          <p:nvPr/>
        </p:nvSpPr>
        <p:spPr>
          <a:xfrm>
            <a:off x="438912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Захват JPEG 4K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40F0B8-C60B-6D5D-E6F7-3FD13A8689A7}"/>
              </a:ext>
            </a:extLst>
          </p:cNvPr>
          <p:cNvSpPr/>
          <p:nvPr/>
        </p:nvSpPr>
        <p:spPr>
          <a:xfrm>
            <a:off x="384048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E6C5A-6CCE-9AE1-24F1-37CB0534B6BF}"/>
              </a:ext>
            </a:extLst>
          </p:cNvPr>
          <p:cNvSpPr txBox="1"/>
          <p:nvPr/>
        </p:nvSpPr>
        <p:spPr>
          <a:xfrm>
            <a:off x="438912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piexif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68F1A-29B8-4436-DD6B-37505EA164EC}"/>
              </a:ext>
            </a:extLst>
          </p:cNvPr>
          <p:cNvSpPr txBox="1"/>
          <p:nvPr/>
        </p:nvSpPr>
        <p:spPr>
          <a:xfrm>
            <a:off x="438912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EXIF GPS-тег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3FFAD9-9D51-0840-9041-43BA304CD28D}"/>
              </a:ext>
            </a:extLst>
          </p:cNvPr>
          <p:cNvSpPr/>
          <p:nvPr/>
        </p:nvSpPr>
        <p:spPr>
          <a:xfrm>
            <a:off x="384048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1EA71D-11DF-9DBA-77FD-2FC7F1B6E7B9}"/>
              </a:ext>
            </a:extLst>
          </p:cNvPr>
          <p:cNvSpPr txBox="1"/>
          <p:nvPr/>
        </p:nvSpPr>
        <p:spPr>
          <a:xfrm>
            <a:off x="438912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pynmea2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11F59-92AD-0244-DC31-F4DBC4F89406}"/>
              </a:ext>
            </a:extLst>
          </p:cNvPr>
          <p:cNvSpPr txBox="1"/>
          <p:nvPr/>
        </p:nvSpPr>
        <p:spPr>
          <a:xfrm>
            <a:off x="438912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Парсинг NMEA BN-220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471610-142F-672C-3882-F89CDC521D0E}"/>
              </a:ext>
            </a:extLst>
          </p:cNvPr>
          <p:cNvSpPr/>
          <p:nvPr/>
        </p:nvSpPr>
        <p:spPr>
          <a:xfrm>
            <a:off x="384048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26B0AE-2644-89B2-A7D2-2ABE931FDE2C}"/>
              </a:ext>
            </a:extLst>
          </p:cNvPr>
          <p:cNvSpPr txBox="1"/>
          <p:nvPr/>
        </p:nvSpPr>
        <p:spPr>
          <a:xfrm>
            <a:off x="438912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gpxpy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5590C7-C9E0-65FB-F3E1-D4A0AAB7A04E}"/>
              </a:ext>
            </a:extLst>
          </p:cNvPr>
          <p:cNvSpPr txBox="1"/>
          <p:nvPr/>
        </p:nvSpPr>
        <p:spPr>
          <a:xfrm>
            <a:off x="438912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GPX-трек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5F6897-807A-AB56-155B-3D073AF61878}"/>
              </a:ext>
            </a:extLst>
          </p:cNvPr>
          <p:cNvSpPr/>
          <p:nvPr/>
        </p:nvSpPr>
        <p:spPr>
          <a:xfrm>
            <a:off x="384048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B9AB20-3FE4-C662-F84E-919261D30CEB}"/>
              </a:ext>
            </a:extLst>
          </p:cNvPr>
          <p:cNvSpPr txBox="1"/>
          <p:nvPr/>
        </p:nvSpPr>
        <p:spPr>
          <a:xfrm>
            <a:off x="438912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6A463C-CAE6-D997-EEF3-1E4D18F42837}"/>
              </a:ext>
            </a:extLst>
          </p:cNvPr>
          <p:cNvSpPr txBox="1"/>
          <p:nvPr/>
        </p:nvSpPr>
        <p:spPr>
          <a:xfrm>
            <a:off x="438912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Бортовой скрипт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F97208-1B7B-B971-327D-7600C74A09F3}"/>
              </a:ext>
            </a:extLst>
          </p:cNvPr>
          <p:cNvSpPr/>
          <p:nvPr/>
        </p:nvSpPr>
        <p:spPr>
          <a:xfrm>
            <a:off x="2468879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B44C58-F4F2-FE64-F272-EEE1A58E83D2}"/>
              </a:ext>
            </a:extLst>
          </p:cNvPr>
          <p:cNvSpPr/>
          <p:nvPr/>
        </p:nvSpPr>
        <p:spPr>
          <a:xfrm>
            <a:off x="2468879" y="658368"/>
            <a:ext cx="2029968" cy="384048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14DF35-3C86-036D-9E45-2103C0777633}"/>
              </a:ext>
            </a:extLst>
          </p:cNvPr>
          <p:cNvSpPr txBox="1"/>
          <p:nvPr/>
        </p:nvSpPr>
        <p:spPr>
          <a:xfrm>
            <a:off x="2542032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Сервер / API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DD8313-64AA-AAAF-9FD6-A88DD641384D}"/>
              </a:ext>
            </a:extLst>
          </p:cNvPr>
          <p:cNvSpPr/>
          <p:nvPr/>
        </p:nvSpPr>
        <p:spPr>
          <a:xfrm>
            <a:off x="2560320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9E47FF-2254-58D9-79ED-E47F399A8085}"/>
              </a:ext>
            </a:extLst>
          </p:cNvPr>
          <p:cNvSpPr txBox="1"/>
          <p:nvPr/>
        </p:nvSpPr>
        <p:spPr>
          <a:xfrm>
            <a:off x="2615184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179E36-36A7-D92A-59AE-429CA6915656}"/>
              </a:ext>
            </a:extLst>
          </p:cNvPr>
          <p:cNvSpPr txBox="1"/>
          <p:nvPr/>
        </p:nvSpPr>
        <p:spPr>
          <a:xfrm>
            <a:off x="2615184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REST Upload + GeoJSON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632FA2-0A99-73C2-07D0-71917DE9EEA1}"/>
              </a:ext>
            </a:extLst>
          </p:cNvPr>
          <p:cNvSpPr/>
          <p:nvPr/>
        </p:nvSpPr>
        <p:spPr>
          <a:xfrm>
            <a:off x="2560320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173A1C-CE01-8662-A924-5DED98560B2D}"/>
              </a:ext>
            </a:extLst>
          </p:cNvPr>
          <p:cNvSpPr txBox="1"/>
          <p:nvPr/>
        </p:nvSpPr>
        <p:spPr>
          <a:xfrm>
            <a:off x="2615184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Celery + Redis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D53ED7-00FB-8E1A-0966-D229DE88B61F}"/>
              </a:ext>
            </a:extLst>
          </p:cNvPr>
          <p:cNvSpPr txBox="1"/>
          <p:nvPr/>
        </p:nvSpPr>
        <p:spPr>
          <a:xfrm>
            <a:off x="2615184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Очередь задач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931737-88DA-7B42-8B47-B9EFA6A28DBA}"/>
              </a:ext>
            </a:extLst>
          </p:cNvPr>
          <p:cNvSpPr/>
          <p:nvPr/>
        </p:nvSpPr>
        <p:spPr>
          <a:xfrm>
            <a:off x="2560320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9EC80F-9643-3E66-FBED-74DE965A3705}"/>
              </a:ext>
            </a:extLst>
          </p:cNvPr>
          <p:cNvSpPr txBox="1"/>
          <p:nvPr/>
        </p:nvSpPr>
        <p:spPr>
          <a:xfrm>
            <a:off x="2615184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B5C009-0CA9-B646-0717-9D8F13801DC9}"/>
              </a:ext>
            </a:extLst>
          </p:cNvPr>
          <p:cNvSpPr txBox="1"/>
          <p:nvPr/>
        </p:nvSpPr>
        <p:spPr>
          <a:xfrm>
            <a:off x="2615184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ORM • миграции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2F6E34-304D-5CC2-A080-9D06DB484D0B}"/>
              </a:ext>
            </a:extLst>
          </p:cNvPr>
          <p:cNvSpPr/>
          <p:nvPr/>
        </p:nvSpPr>
        <p:spPr>
          <a:xfrm>
            <a:off x="2560320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9EA78C-A70B-C2C7-A019-813ADB82F9E5}"/>
              </a:ext>
            </a:extLst>
          </p:cNvPr>
          <p:cNvSpPr txBox="1"/>
          <p:nvPr/>
        </p:nvSpPr>
        <p:spPr>
          <a:xfrm>
            <a:off x="2615184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MinIO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71F797-06A5-31BC-28F2-20B43C87D8B7}"/>
              </a:ext>
            </a:extLst>
          </p:cNvPr>
          <p:cNvSpPr txBox="1"/>
          <p:nvPr/>
        </p:nvSpPr>
        <p:spPr>
          <a:xfrm>
            <a:off x="2615184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S3 хранилище фото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8A4B45-717D-EA5F-E4E6-4848780A08C8}"/>
              </a:ext>
            </a:extLst>
          </p:cNvPr>
          <p:cNvSpPr/>
          <p:nvPr/>
        </p:nvSpPr>
        <p:spPr>
          <a:xfrm>
            <a:off x="2560320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90D9A1-EB79-2441-02CD-B1FC1912EF44}"/>
              </a:ext>
            </a:extLst>
          </p:cNvPr>
          <p:cNvSpPr txBox="1"/>
          <p:nvPr/>
        </p:nvSpPr>
        <p:spPr>
          <a:xfrm>
            <a:off x="2615184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4400F3-7963-650C-4D08-449430857194}"/>
              </a:ext>
            </a:extLst>
          </p:cNvPr>
          <p:cNvSpPr txBox="1"/>
          <p:nvPr/>
        </p:nvSpPr>
        <p:spPr>
          <a:xfrm>
            <a:off x="2615184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Деплой VPS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2C8EED-AA24-EA6D-52B5-AD319A19BEA1}"/>
              </a:ext>
            </a:extLst>
          </p:cNvPr>
          <p:cNvSpPr/>
          <p:nvPr/>
        </p:nvSpPr>
        <p:spPr>
          <a:xfrm>
            <a:off x="4645152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586432-512D-46AC-6BF0-CEDC6B0916FA}"/>
              </a:ext>
            </a:extLst>
          </p:cNvPr>
          <p:cNvSpPr/>
          <p:nvPr/>
        </p:nvSpPr>
        <p:spPr>
          <a:xfrm>
            <a:off x="4645152" y="658368"/>
            <a:ext cx="2029968" cy="384048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FC50D2-CE3B-D0FF-6817-53460BB74683}"/>
              </a:ext>
            </a:extLst>
          </p:cNvPr>
          <p:cNvSpPr txBox="1"/>
          <p:nvPr/>
        </p:nvSpPr>
        <p:spPr>
          <a:xfrm>
            <a:off x="4718304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 / Детекция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8A2B48-1231-AA12-6FE9-9F1E0336C6D4}"/>
              </a:ext>
            </a:extLst>
          </p:cNvPr>
          <p:cNvSpPr/>
          <p:nvPr/>
        </p:nvSpPr>
        <p:spPr>
          <a:xfrm>
            <a:off x="4736592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29B40E-399E-C41B-A535-6A5A4B6B1BAA}"/>
              </a:ext>
            </a:extLst>
          </p:cNvPr>
          <p:cNvSpPr txBox="1"/>
          <p:nvPr/>
        </p:nvSpPr>
        <p:spPr>
          <a:xfrm>
            <a:off x="4791456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YOLOv8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AB49B4-FB32-4C03-3FFA-0762E2D6C881}"/>
              </a:ext>
            </a:extLst>
          </p:cNvPr>
          <p:cNvSpPr txBox="1"/>
          <p:nvPr/>
        </p:nvSpPr>
        <p:spPr>
          <a:xfrm>
            <a:off x="4791456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Детекция 6 классов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8F605D8-B0BC-191D-C1E6-5B36E44830CC}"/>
              </a:ext>
            </a:extLst>
          </p:cNvPr>
          <p:cNvSpPr/>
          <p:nvPr/>
        </p:nvSpPr>
        <p:spPr>
          <a:xfrm>
            <a:off x="4736592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E7083B-F6CB-5DC8-E17A-F3E1BD776B60}"/>
              </a:ext>
            </a:extLst>
          </p:cNvPr>
          <p:cNvSpPr txBox="1"/>
          <p:nvPr/>
        </p:nvSpPr>
        <p:spPr>
          <a:xfrm>
            <a:off x="4791456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ONNX Runtime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386641-B991-55A5-813F-8EE4A43F5D50}"/>
              </a:ext>
            </a:extLst>
          </p:cNvPr>
          <p:cNvSpPr txBox="1"/>
          <p:nvPr/>
        </p:nvSpPr>
        <p:spPr>
          <a:xfrm>
            <a:off x="4791456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Инференс на CPU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E7E073-B138-FB38-5907-D1CEBE867F15}"/>
              </a:ext>
            </a:extLst>
          </p:cNvPr>
          <p:cNvSpPr/>
          <p:nvPr/>
        </p:nvSpPr>
        <p:spPr>
          <a:xfrm>
            <a:off x="4736592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7B8037-2CBF-E4A7-605A-498649ABDD8A}"/>
              </a:ext>
            </a:extLst>
          </p:cNvPr>
          <p:cNvSpPr txBox="1"/>
          <p:nvPr/>
        </p:nvSpPr>
        <p:spPr>
          <a:xfrm>
            <a:off x="4791456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5068C9-788B-ADB2-5696-8494A9C54611}"/>
              </a:ext>
            </a:extLst>
          </p:cNvPr>
          <p:cNvSpPr txBox="1"/>
          <p:nvPr/>
        </p:nvSpPr>
        <p:spPr>
          <a:xfrm>
            <a:off x="4791456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Предобработка кадров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605E3B-6BA4-2D94-F770-9AE9C000F97E}"/>
              </a:ext>
            </a:extLst>
          </p:cNvPr>
          <p:cNvSpPr/>
          <p:nvPr/>
        </p:nvSpPr>
        <p:spPr>
          <a:xfrm>
            <a:off x="4736592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DC1EDD-BF83-8B66-7C86-1C50543A1FDE}"/>
              </a:ext>
            </a:extLst>
          </p:cNvPr>
          <p:cNvSpPr txBox="1"/>
          <p:nvPr/>
        </p:nvSpPr>
        <p:spPr>
          <a:xfrm>
            <a:off x="4791456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4BBECF-914C-5F16-DDEB-322F96A1007E}"/>
              </a:ext>
            </a:extLst>
          </p:cNvPr>
          <p:cNvSpPr txBox="1"/>
          <p:nvPr/>
        </p:nvSpPr>
        <p:spPr>
          <a:xfrm>
            <a:off x="4791456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Обучение модели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F0EDCA-0F7E-B0D0-32D1-0CDA29F883F8}"/>
              </a:ext>
            </a:extLst>
          </p:cNvPr>
          <p:cNvSpPr/>
          <p:nvPr/>
        </p:nvSpPr>
        <p:spPr>
          <a:xfrm>
            <a:off x="4736592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BBDDCB-FC18-AA48-E042-BEA6DA87E62D}"/>
              </a:ext>
            </a:extLst>
          </p:cNvPr>
          <p:cNvSpPr txBox="1"/>
          <p:nvPr/>
        </p:nvSpPr>
        <p:spPr>
          <a:xfrm>
            <a:off x="4791456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GDAL / Rasterio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1CACA2-2FEE-78AD-E9AA-BFEA27CD7815}"/>
              </a:ext>
            </a:extLst>
          </p:cNvPr>
          <p:cNvSpPr txBox="1"/>
          <p:nvPr/>
        </p:nvSpPr>
        <p:spPr>
          <a:xfrm>
            <a:off x="4791456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Геопространств. операции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D38B0D-73AD-167B-026C-F4A03EC33320}"/>
              </a:ext>
            </a:extLst>
          </p:cNvPr>
          <p:cNvSpPr/>
          <p:nvPr/>
        </p:nvSpPr>
        <p:spPr>
          <a:xfrm>
            <a:off x="6821424" y="658368"/>
            <a:ext cx="2029968" cy="42245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E76D92-E13C-6FD4-B98E-76A8D7A67D53}"/>
              </a:ext>
            </a:extLst>
          </p:cNvPr>
          <p:cNvSpPr/>
          <p:nvPr/>
        </p:nvSpPr>
        <p:spPr>
          <a:xfrm>
            <a:off x="6821424" y="658368"/>
            <a:ext cx="2029968" cy="384048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6641DE-C832-B9BA-0C6C-F6DF48099168}"/>
              </a:ext>
            </a:extLst>
          </p:cNvPr>
          <p:cNvSpPr txBox="1"/>
          <p:nvPr/>
        </p:nvSpPr>
        <p:spPr>
          <a:xfrm>
            <a:off x="6894576" y="70408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БД / Карта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CA26C4E-9343-7CC7-BDA3-A3A8CA04E94D}"/>
              </a:ext>
            </a:extLst>
          </p:cNvPr>
          <p:cNvSpPr/>
          <p:nvPr/>
        </p:nvSpPr>
        <p:spPr>
          <a:xfrm>
            <a:off x="6912864" y="115214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B362B6-3D91-F327-F43D-F5EE7C3AF2E8}"/>
              </a:ext>
            </a:extLst>
          </p:cNvPr>
          <p:cNvSpPr txBox="1"/>
          <p:nvPr/>
        </p:nvSpPr>
        <p:spPr>
          <a:xfrm>
            <a:off x="6967728" y="12070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PostgreSQL 15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22B6F6-C34B-D03C-272E-FFBE93B90EE6}"/>
              </a:ext>
            </a:extLst>
          </p:cNvPr>
          <p:cNvSpPr txBox="1"/>
          <p:nvPr/>
        </p:nvSpPr>
        <p:spPr>
          <a:xfrm>
            <a:off x="6967728" y="1453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Хранение данных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52C3FB7-707A-4CDF-FB8F-4ABB11FE00C4}"/>
              </a:ext>
            </a:extLst>
          </p:cNvPr>
          <p:cNvSpPr/>
          <p:nvPr/>
        </p:nvSpPr>
        <p:spPr>
          <a:xfrm>
            <a:off x="6912864" y="188366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AD80A8-DDB6-7F7B-F7EB-C18C4589734F}"/>
              </a:ext>
            </a:extLst>
          </p:cNvPr>
          <p:cNvSpPr txBox="1"/>
          <p:nvPr/>
        </p:nvSpPr>
        <p:spPr>
          <a:xfrm>
            <a:off x="6967728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PostGIS 3.4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758D28-C4D1-0A3F-32FC-59E8F3F08AD1}"/>
              </a:ext>
            </a:extLst>
          </p:cNvPr>
          <p:cNvSpPr txBox="1"/>
          <p:nvPr/>
        </p:nvSpPr>
        <p:spPr>
          <a:xfrm>
            <a:off x="6967728" y="2185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Геометрии POINT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2C069A-16EB-80AE-7F96-A206037EA973}"/>
              </a:ext>
            </a:extLst>
          </p:cNvPr>
          <p:cNvSpPr/>
          <p:nvPr/>
        </p:nvSpPr>
        <p:spPr>
          <a:xfrm>
            <a:off x="6912864" y="261518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474045-62FB-B954-0E00-B59FB4B2430E}"/>
              </a:ext>
            </a:extLst>
          </p:cNvPr>
          <p:cNvSpPr txBox="1"/>
          <p:nvPr/>
        </p:nvSpPr>
        <p:spPr>
          <a:xfrm>
            <a:off x="6967728" y="267004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rPr dirty="0"/>
              <a:t>Leaflet.js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3154C0-6C33-D048-0676-67155BFBE898}"/>
              </a:ext>
            </a:extLst>
          </p:cNvPr>
          <p:cNvSpPr txBox="1"/>
          <p:nvPr/>
        </p:nvSpPr>
        <p:spPr>
          <a:xfrm>
            <a:off x="6967728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Интерактивная карта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91D0820-ACC0-D7AE-4B95-5BFA8DE1BAB7}"/>
              </a:ext>
            </a:extLst>
          </p:cNvPr>
          <p:cNvSpPr/>
          <p:nvPr/>
        </p:nvSpPr>
        <p:spPr>
          <a:xfrm>
            <a:off x="6912864" y="3346704"/>
            <a:ext cx="184708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B22BE3-6131-70DE-34E5-3F7A57D23A72}"/>
              </a:ext>
            </a:extLst>
          </p:cNvPr>
          <p:cNvSpPr txBox="1"/>
          <p:nvPr/>
        </p:nvSpPr>
        <p:spPr>
          <a:xfrm>
            <a:off x="6967728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GeoJSON / KMZ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42D26F3-BDA6-EC2C-7F5D-9B7D93D013E0}"/>
              </a:ext>
            </a:extLst>
          </p:cNvPr>
          <p:cNvSpPr txBox="1"/>
          <p:nvPr/>
        </p:nvSpPr>
        <p:spPr>
          <a:xfrm>
            <a:off x="6967728" y="36484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Экспорт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6461EAD-9267-D54F-92B6-DF304A0692D2}"/>
              </a:ext>
            </a:extLst>
          </p:cNvPr>
          <p:cNvSpPr/>
          <p:nvPr/>
        </p:nvSpPr>
        <p:spPr>
          <a:xfrm>
            <a:off x="6912864" y="4078224"/>
            <a:ext cx="1847088" cy="621792"/>
          </a:xfrm>
          <a:prstGeom prst="rect">
            <a:avLst/>
          </a:prstGeom>
          <a:solidFill>
            <a:srgbClr val="F2F7FB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9CFB6D-516D-ADB3-F5AB-896446BFF37C}"/>
              </a:ext>
            </a:extLst>
          </p:cNvPr>
          <p:cNvSpPr txBox="1"/>
          <p:nvPr/>
        </p:nvSpPr>
        <p:spPr>
          <a:xfrm>
            <a:off x="6967728" y="41330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1B2A"/>
                </a:solidFill>
                <a:latin typeface="Calibri"/>
              </a:defRPr>
            </a:pPr>
            <a:r>
              <a:t>Heatmap.js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7FB117-8334-B1E6-8FB2-57536D6A9440}"/>
              </a:ext>
            </a:extLst>
          </p:cNvPr>
          <p:cNvSpPr txBox="1"/>
          <p:nvPr/>
        </p:nvSpPr>
        <p:spPr>
          <a:xfrm>
            <a:off x="6967728" y="4379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3A5068"/>
                </a:solidFill>
                <a:latin typeface="Calibri"/>
              </a:defRPr>
            </a:pPr>
            <a:r>
              <a:t>Тепловая карта</a:t>
            </a:r>
          </a:p>
        </p:txBody>
      </p:sp>
    </p:spTree>
    <p:extLst>
      <p:ext uri="{BB962C8B-B14F-4D97-AF65-F5344CB8AC3E}">
        <p14:creationId xmlns:p14="http://schemas.microsoft.com/office/powerpoint/2010/main" val="2413727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40694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Дрон-носитель</a:t>
            </a:r>
            <a:r>
              <a:rPr dirty="0"/>
              <a:t> — </a:t>
            </a:r>
            <a:r>
              <a:rPr lang="ru-RU" dirty="0"/>
              <a:t>задачи проекта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t>Сборка, настройка, интеграция бортового модуля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4206240" cy="181051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39" y="646937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8B8B"/>
                </a:solidFill>
                <a:latin typeface="Calibri"/>
              </a:defRPr>
            </a:pPr>
            <a:r>
              <a:rPr lang="en-US" dirty="0"/>
              <a:t>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60119" y="76809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Сборка квадрокоптера</a:t>
            </a:r>
          </a:p>
        </p:txBody>
      </p:sp>
      <p:sp>
        <p:nvSpPr>
          <p:cNvPr id="8" name="Oval 7"/>
          <p:cNvSpPr/>
          <p:nvPr/>
        </p:nvSpPr>
        <p:spPr>
          <a:xfrm>
            <a:off x="489203" y="1275588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207007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rPr dirty="0" err="1"/>
              <a:t>Монтаж</a:t>
            </a:r>
            <a:r>
              <a:rPr dirty="0"/>
              <a:t> </a:t>
            </a:r>
            <a:r>
              <a:rPr dirty="0" err="1"/>
              <a:t>рамы</a:t>
            </a:r>
            <a:r>
              <a:rPr dirty="0"/>
              <a:t>, PDB PTB XT60, 4× ESC → M1–M4</a:t>
            </a:r>
          </a:p>
        </p:txBody>
      </p:sp>
      <p:sp>
        <p:nvSpPr>
          <p:cNvPr id="10" name="Oval 9"/>
          <p:cNvSpPr/>
          <p:nvPr/>
        </p:nvSpPr>
        <p:spPr>
          <a:xfrm>
            <a:off x="489203" y="1623060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554479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Подключение GEPRC RAD Mini VTX (12В от PDB)</a:t>
            </a:r>
          </a:p>
        </p:txBody>
      </p:sp>
      <p:sp>
        <p:nvSpPr>
          <p:cNvPr id="12" name="Oval 11"/>
          <p:cNvSpPr/>
          <p:nvPr/>
        </p:nvSpPr>
        <p:spPr>
          <a:xfrm>
            <a:off x="489203" y="1970531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90195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rPr dirty="0" err="1"/>
              <a:t>Камера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VIN FC; </a:t>
            </a:r>
            <a:r>
              <a:rPr dirty="0" err="1"/>
              <a:t>антенна</a:t>
            </a:r>
            <a:r>
              <a:rPr dirty="0"/>
              <a:t> VTX </a:t>
            </a:r>
            <a:r>
              <a:rPr dirty="0" err="1"/>
              <a:t>штатная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320040" y="2651760"/>
            <a:ext cx="4206240" cy="181051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39" y="2652591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8B8B"/>
                </a:solidFill>
                <a:latin typeface="Calibri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960119" y="2761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Настройка полётного контроллера</a:t>
            </a:r>
          </a:p>
        </p:txBody>
      </p:sp>
      <p:sp>
        <p:nvSpPr>
          <p:cNvPr id="17" name="Oval 16"/>
          <p:cNvSpPr/>
          <p:nvPr/>
        </p:nvSpPr>
        <p:spPr>
          <a:xfrm>
            <a:off x="489203" y="3268979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2004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rPr dirty="0" err="1"/>
              <a:t>Прошивка</a:t>
            </a:r>
            <a:r>
              <a:rPr dirty="0"/>
              <a:t> </a:t>
            </a:r>
            <a:r>
              <a:rPr dirty="0" err="1"/>
              <a:t>iNav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Omnibus F4 SD</a:t>
            </a:r>
          </a:p>
        </p:txBody>
      </p:sp>
      <p:sp>
        <p:nvSpPr>
          <p:cNvPr id="19" name="Oval 18"/>
          <p:cNvSpPr/>
          <p:nvPr/>
        </p:nvSpPr>
        <p:spPr>
          <a:xfrm>
            <a:off x="489203" y="3616451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54787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Настройка UART3 → GPS BN-220 (9600 бод, NMEA)</a:t>
            </a:r>
          </a:p>
        </p:txBody>
      </p:sp>
      <p:sp>
        <p:nvSpPr>
          <p:cNvPr id="21" name="Oval 20"/>
          <p:cNvSpPr/>
          <p:nvPr/>
        </p:nvSpPr>
        <p:spPr>
          <a:xfrm>
            <a:off x="489203" y="3963923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89534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Привязка ELRS NANO CYCLONE на RadioMaster Pocket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658368"/>
            <a:ext cx="4206240" cy="181051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36592" y="662523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8B8B"/>
                </a:solidFill>
                <a:latin typeface="Calibri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5376672" y="768096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Интеграция бортового модуля</a:t>
            </a:r>
          </a:p>
        </p:txBody>
      </p:sp>
      <p:sp>
        <p:nvSpPr>
          <p:cNvPr id="26" name="Oval 25"/>
          <p:cNvSpPr/>
          <p:nvPr/>
        </p:nvSpPr>
        <p:spPr>
          <a:xfrm>
            <a:off x="4905755" y="1275588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0" y="1207007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rPr dirty="0"/>
              <a:t>RPi Zero 2W + IMX219 (CSI-2)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раме</a:t>
            </a:r>
            <a:endParaRPr dirty="0"/>
          </a:p>
        </p:txBody>
      </p:sp>
      <p:sp>
        <p:nvSpPr>
          <p:cNvPr id="28" name="Oval 27"/>
          <p:cNvSpPr/>
          <p:nvPr/>
        </p:nvSpPr>
        <p:spPr>
          <a:xfrm>
            <a:off x="4905755" y="1623060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1554479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GPS UART → RPi: чтение NMEA, EXIF-тег каждого кадра</a:t>
            </a:r>
          </a:p>
        </p:txBody>
      </p:sp>
      <p:sp>
        <p:nvSpPr>
          <p:cNvPr id="30" name="Oval 29"/>
          <p:cNvSpPr/>
          <p:nvPr/>
        </p:nvSpPr>
        <p:spPr>
          <a:xfrm>
            <a:off x="4905755" y="1970531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0" y="190195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capture.py: GPX-трек + frames.csv → SD-карта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2651760"/>
            <a:ext cx="4206240" cy="181051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6592" y="2660904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8B8B"/>
                </a:solidFill>
                <a:latin typeface="Calibri"/>
              </a:defRPr>
            </a:pPr>
            <a:r>
              <a:rPr lang="en-US" dirty="0"/>
              <a:t>4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376672" y="27614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Полётные</a:t>
            </a:r>
            <a:r>
              <a:rPr dirty="0"/>
              <a:t> </a:t>
            </a:r>
            <a:r>
              <a:rPr dirty="0" err="1"/>
              <a:t>испытания</a:t>
            </a:r>
            <a:endParaRPr dirty="0"/>
          </a:p>
        </p:txBody>
      </p:sp>
      <p:sp>
        <p:nvSpPr>
          <p:cNvPr id="35" name="Oval 34"/>
          <p:cNvSpPr/>
          <p:nvPr/>
        </p:nvSpPr>
        <p:spPr>
          <a:xfrm>
            <a:off x="4905755" y="3268979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40" y="320040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Проверка GPS-фикса (≥4 спутника, ±3–5 м)</a:t>
            </a:r>
          </a:p>
        </p:txBody>
      </p:sp>
      <p:sp>
        <p:nvSpPr>
          <p:cNvPr id="37" name="Oval 36"/>
          <p:cNvSpPr/>
          <p:nvPr/>
        </p:nvSpPr>
        <p:spPr>
          <a:xfrm>
            <a:off x="4905755" y="3616451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0" y="354787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Проверка синхронизации координат и кадров</a:t>
            </a:r>
          </a:p>
        </p:txBody>
      </p:sp>
      <p:sp>
        <p:nvSpPr>
          <p:cNvPr id="39" name="Oval 38"/>
          <p:cNvSpPr/>
          <p:nvPr/>
        </p:nvSpPr>
        <p:spPr>
          <a:xfrm>
            <a:off x="4905755" y="3963923"/>
            <a:ext cx="118872" cy="118872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0640" y="389534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Тестовый маршрут по waypoints в QGroundControl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5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Дрон-носитель</a:t>
            </a:r>
            <a:r>
              <a:rPr dirty="0"/>
              <a:t> — </a:t>
            </a:r>
            <a:r>
              <a:rPr dirty="0" err="1"/>
              <a:t>результат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280416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Функциональный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, </a:t>
            </a:r>
            <a:r>
              <a:rPr dirty="0" err="1"/>
              <a:t>готовый</a:t>
            </a:r>
            <a:r>
              <a:rPr dirty="0"/>
              <a:t> к </a:t>
            </a:r>
            <a:r>
              <a:rPr dirty="0" err="1"/>
              <a:t>полевым</a:t>
            </a:r>
            <a:r>
              <a:rPr dirty="0"/>
              <a:t> </a:t>
            </a:r>
            <a:r>
              <a:rPr dirty="0" err="1"/>
              <a:t>испытаниям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20040" y="713232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256032" cy="841248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Calibri"/>
              </a:defRPr>
            </a:pPr>
            <a:r>
              <a:t>10 Гц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A5068"/>
                </a:solidFill>
                <a:latin typeface="Calibri"/>
              </a:defRPr>
            </a:pPr>
            <a:r>
              <a:t>обновление GPS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256032" cy="841248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79222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Calibri"/>
              </a:defRPr>
            </a:pPr>
            <a:r>
              <a:t>±3–5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A5068"/>
                </a:solidFill>
                <a:latin typeface="Calibri"/>
              </a:defRPr>
            </a:pPr>
            <a:r>
              <a:t>точность геопривязки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24912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724912"/>
            <a:ext cx="256032" cy="841248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79806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Calibri"/>
              </a:defRPr>
            </a:pPr>
            <a:r>
              <a:t>1 к/с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821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A5068"/>
                </a:solidFill>
                <a:latin typeface="Calibri"/>
              </a:defRPr>
            </a:pPr>
            <a:r>
              <a:t>частота съёмки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30752"/>
            <a:ext cx="2286000" cy="8412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730752"/>
            <a:ext cx="256032" cy="841248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803904"/>
            <a:ext cx="1828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Calibri"/>
              </a:defRPr>
            </a:pPr>
            <a:r>
              <a:rPr lang="en-US" dirty="0"/>
              <a:t>3-</a:t>
            </a:r>
            <a:r>
              <a:rPr dirty="0"/>
              <a:t>4S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87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A5068"/>
                </a:solidFill>
                <a:latin typeface="Calibri"/>
              </a:defRPr>
            </a:pPr>
            <a:r>
              <a:t>питание LiPo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713232"/>
            <a:ext cx="3017520" cy="37673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786384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B2A"/>
                </a:solidFill>
                <a:latin typeface="Calibri"/>
              </a:defRPr>
            </a:pPr>
            <a:r>
              <a:rPr lang="ru-RU" dirty="0"/>
              <a:t>Итоговый результат</a:t>
            </a:r>
            <a:endParaRPr dirty="0"/>
          </a:p>
        </p:txBody>
      </p:sp>
      <p:sp>
        <p:nvSpPr>
          <p:cNvPr id="23" name="Oval 22"/>
          <p:cNvSpPr/>
          <p:nvPr/>
        </p:nvSpPr>
        <p:spPr>
          <a:xfrm>
            <a:off x="2862072" y="1161288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72384" y="1097280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t>Собран и прошит квадрокоптер на Omnibus F4 SD</a:t>
            </a:r>
          </a:p>
        </p:txBody>
      </p:sp>
      <p:sp>
        <p:nvSpPr>
          <p:cNvPr id="25" name="Oval 24"/>
          <p:cNvSpPr/>
          <p:nvPr/>
        </p:nvSpPr>
        <p:spPr>
          <a:xfrm>
            <a:off x="2862072" y="1508760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72384" y="144475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t>GPS BN-220 стабильно передаёт координаты на FC</a:t>
            </a:r>
          </a:p>
        </p:txBody>
      </p:sp>
      <p:sp>
        <p:nvSpPr>
          <p:cNvPr id="27" name="Oval 26"/>
          <p:cNvSpPr/>
          <p:nvPr/>
        </p:nvSpPr>
        <p:spPr>
          <a:xfrm>
            <a:off x="2862072" y="1856232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72384" y="179222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t>ELRS NANO связан с RadioMaster Pocket без задержек</a:t>
            </a:r>
          </a:p>
        </p:txBody>
      </p:sp>
      <p:sp>
        <p:nvSpPr>
          <p:cNvPr id="29" name="Oval 28"/>
          <p:cNvSpPr/>
          <p:nvPr/>
        </p:nvSpPr>
        <p:spPr>
          <a:xfrm>
            <a:off x="2862072" y="2203704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72384" y="2139696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rPr dirty="0"/>
              <a:t>RPi Zero 2W </a:t>
            </a:r>
            <a:r>
              <a:rPr dirty="0" err="1"/>
              <a:t>монтирует</a:t>
            </a:r>
            <a:r>
              <a:rPr dirty="0"/>
              <a:t> SD и </a:t>
            </a:r>
            <a:r>
              <a:rPr dirty="0" err="1"/>
              <a:t>пишет</a:t>
            </a:r>
            <a:r>
              <a:rPr dirty="0"/>
              <a:t> JPEG + GPS EXIF</a:t>
            </a:r>
          </a:p>
        </p:txBody>
      </p:sp>
      <p:sp>
        <p:nvSpPr>
          <p:cNvPr id="31" name="Oval 30"/>
          <p:cNvSpPr/>
          <p:nvPr/>
        </p:nvSpPr>
        <p:spPr>
          <a:xfrm>
            <a:off x="2862072" y="2551176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72384" y="2487168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t>GPX-трек синхронизирован с кадрами (frames.csv)</a:t>
            </a:r>
          </a:p>
        </p:txBody>
      </p:sp>
      <p:sp>
        <p:nvSpPr>
          <p:cNvPr id="33" name="Oval 32"/>
          <p:cNvSpPr/>
          <p:nvPr/>
        </p:nvSpPr>
        <p:spPr>
          <a:xfrm>
            <a:off x="2862072" y="2898648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2384" y="2834639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t>capture.py протестирован: лог 368 строк, без потерь</a:t>
            </a:r>
          </a:p>
        </p:txBody>
      </p:sp>
      <p:sp>
        <p:nvSpPr>
          <p:cNvPr id="35" name="Oval 34"/>
          <p:cNvSpPr/>
          <p:nvPr/>
        </p:nvSpPr>
        <p:spPr>
          <a:xfrm>
            <a:off x="2862072" y="3246120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72384" y="3182112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t>upload.py передаёт данные на сервер с retry</a:t>
            </a:r>
          </a:p>
        </p:txBody>
      </p:sp>
      <p:sp>
        <p:nvSpPr>
          <p:cNvPr id="37" name="Oval 36"/>
          <p:cNvSpPr/>
          <p:nvPr/>
        </p:nvSpPr>
        <p:spPr>
          <a:xfrm>
            <a:off x="2862072" y="3593592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72384" y="3529584"/>
            <a:ext cx="2633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D1B2A"/>
                </a:solidFill>
                <a:latin typeface="Calibri"/>
              </a:defRPr>
            </a:pPr>
            <a:r>
              <a:rPr dirty="0" err="1"/>
              <a:t>iNav</a:t>
            </a:r>
            <a:r>
              <a:rPr dirty="0"/>
              <a:t>: </a:t>
            </a:r>
            <a:r>
              <a:rPr dirty="0" err="1"/>
              <a:t>тестовый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waypoints </a:t>
            </a:r>
            <a:r>
              <a:rPr dirty="0" err="1"/>
              <a:t>выполнен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5989320" y="713232"/>
            <a:ext cx="2834640" cy="3767328"/>
          </a:xfrm>
          <a:prstGeom prst="rect">
            <a:avLst/>
          </a:prstGeom>
          <a:solidFill>
            <a:srgbClr val="E8F2F8"/>
          </a:solidFill>
          <a:ln w="19050">
            <a:solidFill>
              <a:srgbClr val="C0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ectangle 39"/>
          <p:cNvSpPr/>
          <p:nvPr/>
        </p:nvSpPr>
        <p:spPr>
          <a:xfrm>
            <a:off x="6675120" y="1645920"/>
            <a:ext cx="1463040" cy="1097280"/>
          </a:xfrm>
          <a:prstGeom prst="rect">
            <a:avLst/>
          </a:prstGeom>
          <a:solidFill>
            <a:srgbClr val="C8DCE8"/>
          </a:solidFill>
          <a:ln>
            <a:solidFill>
              <a:srgbClr val="B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D1B2A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28346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9AA"/>
                </a:solidFill>
                <a:latin typeface="Calibri"/>
              </a:defRPr>
            </a:pP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фото</a:t>
            </a:r>
            <a:br>
              <a:rPr dirty="0"/>
            </a:br>
            <a:r>
              <a:rPr dirty="0" err="1"/>
              <a:t>собранного</a:t>
            </a:r>
            <a:r>
              <a:rPr dirty="0"/>
              <a:t> </a:t>
            </a:r>
            <a:r>
              <a:rPr dirty="0" err="1"/>
              <a:t>дрона</a:t>
            </a:r>
            <a:endParaRPr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10D36AE1-3A08-F84A-F0EA-830CC5D0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12" y="1298448"/>
            <a:ext cx="2668108" cy="2668108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75A6BAB-F04E-7EF7-FEB4-E00DA33E168A}"/>
              </a:ext>
            </a:extLst>
          </p:cNvPr>
          <p:cNvSpPr txBox="1"/>
          <p:nvPr/>
        </p:nvSpPr>
        <p:spPr>
          <a:xfrm>
            <a:off x="6080760" y="770589"/>
            <a:ext cx="2818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Анатомия дрона носителя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Система</a:t>
            </a:r>
            <a:r>
              <a:rPr dirty="0"/>
              <a:t> МЗ — </a:t>
            </a:r>
            <a:r>
              <a:rPr dirty="0" err="1"/>
              <a:t>проделанная</a:t>
            </a:r>
            <a:r>
              <a:rPr dirty="0"/>
              <a:t> </a:t>
            </a:r>
            <a:r>
              <a:rPr dirty="0" err="1"/>
              <a:t>работа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384048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Архитектура</a:t>
            </a:r>
            <a:r>
              <a:rPr dirty="0"/>
              <a:t>, БД, </a:t>
            </a:r>
            <a:r>
              <a:rPr dirty="0" err="1"/>
              <a:t>бортовой</a:t>
            </a:r>
            <a:r>
              <a:rPr dirty="0"/>
              <a:t> </a:t>
            </a:r>
            <a:r>
              <a:rPr dirty="0" err="1"/>
              <a:t>пайплайн</a:t>
            </a:r>
            <a:r>
              <a:rPr dirty="0"/>
              <a:t>,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часть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292608" y="658368"/>
            <a:ext cx="2788920" cy="1874519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608" y="658368"/>
            <a:ext cx="438912" cy="1874519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713232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1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2959" y="749808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Архитектура системы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207007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3-уровневая схема: борт → сервер → карта. Чёткие интерфейсы между модулями. Принцип edge-lite: никакого ML на борту.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658368"/>
            <a:ext cx="2788920" cy="1874519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72968" y="658368"/>
            <a:ext cx="438912" cy="1874519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9544" y="713232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703320" y="749808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Схема БД (ERD)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207007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PostgreSQL + PostGIS: 4 таблицы — missions, images, markers, marker_classes. View markers_geojson для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658368"/>
            <a:ext cx="2788920" cy="1874519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8" y="658368"/>
            <a:ext cx="438912" cy="1874519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9904" y="713232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583680" y="749808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Бортовой capture.py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07007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368 строк. Потокобезопасный GPS-ридер (pynmea2), EXIF-тег каждого кадра (piexif), GPX-трек, CSV-лог.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" y="2670048"/>
            <a:ext cx="2788920" cy="1874519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2608" y="2670048"/>
            <a:ext cx="438912" cy="1874519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" y="2724912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4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22959" y="2761488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upload.py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218688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Регистрация миссии, выгрузка GPX + CSV + фото. Retry-логика (3 попытки). SHA-256 контроль целостности.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2670048"/>
            <a:ext cx="2788920" cy="1874519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72968" y="2670048"/>
            <a:ext cx="438912" cy="1874519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9544" y="2724912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5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703320" y="2761488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schema.sql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218688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PostGIS индексы GIST на geometry. 6 классов маркеров с цветом для карты. install.sh + systemd-сервис.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2670048"/>
            <a:ext cx="2788920" cy="1874519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53328" y="2670048"/>
            <a:ext cx="438912" cy="1874519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9904" y="2724912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583680" y="2761488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Классификация маркеров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18688"/>
            <a:ext cx="21762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D6E4EE"/>
                </a:solidFill>
                <a:latin typeface="Calibri"/>
              </a:defRPr>
            </a:pPr>
            <a:r>
              <a:t>Определены 6 классов: воронки, окопы, руины, брустверы, металл, гари. Выбрана модель YOLOv8 / RT-DETR.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Алгоритм обучения ML-модели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301752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t>YOLOv8 — 6 классов маркеров беллигеративных ландшафтов</a:t>
            </a:r>
          </a:p>
        </p:txBody>
      </p:sp>
      <p:sp>
        <p:nvSpPr>
          <p:cNvPr id="5" name="Oval 4"/>
          <p:cNvSpPr/>
          <p:nvPr/>
        </p:nvSpPr>
        <p:spPr>
          <a:xfrm>
            <a:off x="612647" y="658368"/>
            <a:ext cx="640080" cy="640080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7" y="6583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973836"/>
            <a:ext cx="457200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1371600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Сбор</a:t>
            </a:r>
            <a:br/>
            <a:r>
              <a:t>данных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93392"/>
            <a:ext cx="1316736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993392"/>
            <a:ext cx="1316736" cy="54864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1225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A5068"/>
                </a:solidFill>
                <a:latin typeface="Calibri"/>
              </a:defRPr>
            </a:pPr>
            <a:r>
              <a:t>iSAID, DOTA v2</a:t>
            </a:r>
            <a:br/>
            <a:r>
              <a:t>OpenAerialMap</a:t>
            </a:r>
            <a:br/>
            <a:r>
              <a:t>Собств. съёмка</a:t>
            </a:r>
          </a:p>
        </p:txBody>
      </p:sp>
      <p:sp>
        <p:nvSpPr>
          <p:cNvPr id="12" name="Oval 11"/>
          <p:cNvSpPr/>
          <p:nvPr/>
        </p:nvSpPr>
        <p:spPr>
          <a:xfrm>
            <a:off x="2075688" y="658368"/>
            <a:ext cx="640080" cy="640080"/>
          </a:xfrm>
          <a:prstGeom prst="ellipse">
            <a:avLst/>
          </a:prstGeom>
          <a:solidFill>
            <a:srgbClr val="5B8DBE"/>
          </a:solidFill>
          <a:ln>
            <a:solidFill>
              <a:srgbClr val="5B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75688" y="6583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973836"/>
            <a:ext cx="457200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64792" y="1371600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Разметка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1993392"/>
            <a:ext cx="1316736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37360" y="1993392"/>
            <a:ext cx="1316736" cy="54864"/>
          </a:xfrm>
          <a:prstGeom prst="rect">
            <a:avLst/>
          </a:prstGeom>
          <a:solidFill>
            <a:srgbClr val="5B8DBE"/>
          </a:solidFill>
          <a:ln>
            <a:solidFill>
              <a:srgbClr val="5B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2057400"/>
            <a:ext cx="1225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A5068"/>
                </a:solidFill>
                <a:latin typeface="Calibri"/>
              </a:defRPr>
            </a:pPr>
            <a:r>
              <a:t>LabelImg /</a:t>
            </a:r>
            <a:br/>
            <a:r>
              <a:t>Roboflow</a:t>
            </a:r>
            <a:br/>
            <a:r>
              <a:t>Bbox • 6 классов</a:t>
            </a:r>
          </a:p>
        </p:txBody>
      </p:sp>
      <p:sp>
        <p:nvSpPr>
          <p:cNvPr id="19" name="Oval 18"/>
          <p:cNvSpPr/>
          <p:nvPr/>
        </p:nvSpPr>
        <p:spPr>
          <a:xfrm>
            <a:off x="3538728" y="658368"/>
            <a:ext cx="640080" cy="640080"/>
          </a:xfrm>
          <a:prstGeom prst="ellipse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6583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973836"/>
            <a:ext cx="457200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27832" y="1371600"/>
            <a:ext cx="12618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rPr dirty="0" err="1"/>
              <a:t>Аугмент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3200400" y="1993392"/>
            <a:ext cx="1316736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0" y="1993392"/>
            <a:ext cx="1316736" cy="54864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2057400"/>
            <a:ext cx="1225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A5068"/>
                </a:solidFill>
                <a:latin typeface="Calibri"/>
              </a:defRPr>
            </a:pPr>
            <a:r>
              <a:rPr dirty="0"/>
              <a:t>Flip, rotate</a:t>
            </a:r>
            <a:br>
              <a:rPr dirty="0"/>
            </a:br>
            <a:r>
              <a:rPr dirty="0"/>
              <a:t>HSV-shift</a:t>
            </a:r>
            <a:br>
              <a:rPr dirty="0"/>
            </a:br>
            <a:r>
              <a:rPr dirty="0"/>
              <a:t>Mosaic, cutout</a:t>
            </a:r>
          </a:p>
        </p:txBody>
      </p:sp>
      <p:sp>
        <p:nvSpPr>
          <p:cNvPr id="26" name="Oval 25"/>
          <p:cNvSpPr/>
          <p:nvPr/>
        </p:nvSpPr>
        <p:spPr>
          <a:xfrm>
            <a:off x="5001768" y="658368"/>
            <a:ext cx="640080" cy="640080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01768" y="6583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973836"/>
            <a:ext cx="457200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90872" y="1371600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Обучение</a:t>
            </a:r>
            <a:br/>
            <a:r>
              <a:t>YOLOv8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993392"/>
            <a:ext cx="1316736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1993392"/>
            <a:ext cx="1316736" cy="54864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2057400"/>
            <a:ext cx="1225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A5068"/>
                </a:solidFill>
                <a:latin typeface="Calibri"/>
              </a:defRPr>
            </a:pPr>
            <a:r>
              <a:t>PyTorch GPU</a:t>
            </a:r>
            <a:br/>
            <a:r>
              <a:t>COCO pretrain</a:t>
            </a:r>
            <a:br/>
            <a:r>
              <a:t>100–300 эпох</a:t>
            </a:r>
          </a:p>
        </p:txBody>
      </p:sp>
      <p:sp>
        <p:nvSpPr>
          <p:cNvPr id="33" name="Oval 32"/>
          <p:cNvSpPr/>
          <p:nvPr/>
        </p:nvSpPr>
        <p:spPr>
          <a:xfrm>
            <a:off x="6464808" y="658368"/>
            <a:ext cx="640080" cy="640080"/>
          </a:xfrm>
          <a:prstGeom prst="ellipse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8" y="6583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973836"/>
            <a:ext cx="457200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53912" y="1371600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Валидация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1993392"/>
            <a:ext cx="1316736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26480" y="1993392"/>
            <a:ext cx="1316736" cy="54864"/>
          </a:xfrm>
          <a:prstGeom prst="rect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57400"/>
            <a:ext cx="1225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A5068"/>
                </a:solidFill>
                <a:latin typeface="Calibri"/>
              </a:defRPr>
            </a:pPr>
            <a:r>
              <a:t>mAP@0.5 &gt;0.85</a:t>
            </a:r>
            <a:br/>
            <a:r>
              <a:t>Confusion matrix</a:t>
            </a:r>
            <a:br/>
            <a:r>
              <a:t>per-class анализ</a:t>
            </a:r>
          </a:p>
        </p:txBody>
      </p:sp>
      <p:sp>
        <p:nvSpPr>
          <p:cNvPr id="40" name="Oval 39"/>
          <p:cNvSpPr/>
          <p:nvPr/>
        </p:nvSpPr>
        <p:spPr>
          <a:xfrm>
            <a:off x="7927848" y="658368"/>
            <a:ext cx="640080" cy="640080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27848" y="65836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2" y="1371600"/>
            <a:ext cx="1261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Экспорт</a:t>
            </a:r>
            <a:br/>
            <a:r>
              <a:t>ONNX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1993392"/>
            <a:ext cx="1316736" cy="9875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589520" y="1993392"/>
            <a:ext cx="1316736" cy="54864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2057400"/>
            <a:ext cx="122529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3A5068"/>
                </a:solidFill>
                <a:latin typeface="Calibri"/>
              </a:defRPr>
            </a:pPr>
            <a:r>
              <a:t>ONNX Runtime</a:t>
            </a:r>
            <a:br/>
            <a:r>
              <a:t>TFLite / TensorRT</a:t>
            </a:r>
            <a:br/>
            <a:r>
              <a:t>Deploy на сервер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27248"/>
            <a:ext cx="8686800" cy="16459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32186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8B8B"/>
                </a:solidFill>
                <a:latin typeface="Calibri"/>
              </a:defRPr>
            </a:pPr>
            <a:r>
              <a:t>Архитектура YOLOv8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3547872"/>
            <a:ext cx="1572768" cy="100584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47472" y="3547872"/>
            <a:ext cx="1572768" cy="54864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360273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8B8B"/>
                </a:solidFill>
                <a:latin typeface="Calibri"/>
              </a:defRPr>
            </a:pPr>
            <a:r>
              <a:t>Вход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" y="3877056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6E4EE"/>
                </a:solidFill>
                <a:latin typeface="Calibri"/>
              </a:defRPr>
            </a:pPr>
            <a:r>
              <a:t>640×640×3</a:t>
            </a:r>
            <a:br/>
            <a:r>
              <a:t>норм. 0–1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0240" y="4046220"/>
            <a:ext cx="146304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066543" y="3547872"/>
            <a:ext cx="1572768" cy="100584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066543" y="3547872"/>
            <a:ext cx="1572768" cy="54864"/>
          </a:xfrm>
          <a:prstGeom prst="rect">
            <a:avLst/>
          </a:prstGeom>
          <a:solidFill>
            <a:srgbClr val="5B8DBE"/>
          </a:solidFill>
          <a:ln>
            <a:solidFill>
              <a:srgbClr val="5B8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066543" y="360273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8DBE"/>
                </a:solidFill>
                <a:latin typeface="Calibri"/>
              </a:defRPr>
            </a:pPr>
            <a:r>
              <a:t>Backbone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66543" y="3877056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6E4EE"/>
                </a:solidFill>
                <a:latin typeface="Calibri"/>
              </a:defRPr>
            </a:pPr>
            <a:r>
              <a:t>CSPDarknet</a:t>
            </a:r>
            <a:br/>
            <a:r>
              <a:t>Feature Extraction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39311" y="4046220"/>
            <a:ext cx="146304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785615" y="3547872"/>
            <a:ext cx="1572768" cy="100584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785615" y="3547872"/>
            <a:ext cx="1572768" cy="54864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785615" y="360273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B5EA7"/>
                </a:solidFill>
                <a:latin typeface="Calibri"/>
              </a:defRPr>
            </a:pPr>
            <a:r>
              <a:t>Neck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5615" y="3877056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6E4EE"/>
                </a:solidFill>
                <a:latin typeface="Calibri"/>
              </a:defRPr>
            </a:pPr>
            <a:r>
              <a:t>PANet</a:t>
            </a:r>
            <a:br/>
            <a:r>
              <a:t>Multi-scale fusion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58383" y="4046220"/>
            <a:ext cx="146304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504688" y="3547872"/>
            <a:ext cx="1572768" cy="100584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504688" y="3547872"/>
            <a:ext cx="1572768" cy="54864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04688" y="360273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6C00"/>
                </a:solidFill>
                <a:latin typeface="Calibri"/>
              </a:defRPr>
            </a:pPr>
            <a:r>
              <a:t>Head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04688" y="3877056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6E4EE"/>
                </a:solidFill>
                <a:latin typeface="Calibri"/>
              </a:defRPr>
            </a:pPr>
            <a:r>
              <a:t>Decoupled</a:t>
            </a:r>
            <a:br/>
            <a:r>
              <a:t>Class + BBox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77455" y="4046220"/>
            <a:ext cx="146304" cy="9144"/>
          </a:xfrm>
          <a:prstGeom prst="rect">
            <a:avLst/>
          </a:prstGeom>
          <a:solidFill>
            <a:srgbClr val="3A5068"/>
          </a:solidFill>
          <a:ln>
            <a:solidFill>
              <a:srgbClr val="3A5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223759" y="3547872"/>
            <a:ext cx="1572768" cy="100584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223759" y="3547872"/>
            <a:ext cx="1572768" cy="54864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223759" y="3602736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A8C5A"/>
                </a:solidFill>
                <a:latin typeface="Calibri"/>
              </a:defRPr>
            </a:pPr>
            <a:r>
              <a:t>Выход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59" y="3877056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6E4EE"/>
                </a:solidFill>
                <a:latin typeface="Calibri"/>
              </a:defRPr>
            </a:pPr>
            <a:r>
              <a:t>6 классов</a:t>
            </a:r>
            <a:br/>
            <a:r>
              <a:t>mAP@0.5 &gt;0.85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Система МЗ —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02582"/>
            <a:ext cx="8229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Готовые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 и </a:t>
            </a:r>
            <a:r>
              <a:rPr dirty="0" err="1"/>
              <a:t>целевые</a:t>
            </a:r>
            <a:r>
              <a:rPr dirty="0"/>
              <a:t> </a:t>
            </a:r>
            <a:r>
              <a:rPr dirty="0" err="1"/>
              <a:t>показатели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1965960" cy="105156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658368"/>
            <a:ext cx="1965960" cy="54864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8B8B"/>
                </a:solidFill>
                <a:latin typeface="Calibri"/>
              </a:defRPr>
            </a:pPr>
            <a:r>
              <a:rPr dirty="0"/>
              <a:t>&gt;85%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7A90A0"/>
                </a:solidFill>
                <a:latin typeface="Calibri"/>
              </a:defRPr>
            </a:pPr>
            <a:r>
              <a:rPr dirty="0"/>
              <a:t>mAP@0.5</a:t>
            </a:r>
            <a:br>
              <a:rPr dirty="0"/>
            </a:br>
            <a:r>
              <a:rPr dirty="0" err="1"/>
              <a:t>детекции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497580" y="680257"/>
            <a:ext cx="1965960" cy="105156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7580" y="680257"/>
            <a:ext cx="1965960" cy="54864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7580" y="771697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6C00"/>
                </a:solidFill>
                <a:latin typeface="Calibri"/>
              </a:defRPr>
            </a:pPr>
            <a:r>
              <a:rPr dirty="0"/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1283761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классов</a:t>
            </a:r>
            <a:br>
              <a:rPr dirty="0"/>
            </a:br>
            <a:r>
              <a:rPr dirty="0" err="1"/>
              <a:t>маркеров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858000" y="630935"/>
            <a:ext cx="1965960" cy="105156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630935"/>
            <a:ext cx="1965960" cy="54864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722375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5EA7"/>
                </a:solidFill>
                <a:latin typeface="Calibri"/>
              </a:defRPr>
            </a:pPr>
            <a:r>
              <a:rPr dirty="0"/>
              <a:t>±3–5м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234439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7A90A0"/>
                </a:solidFill>
                <a:latin typeface="Calibri"/>
              </a:defRPr>
            </a:pPr>
            <a:r>
              <a:t>геопривязка</a:t>
            </a:r>
            <a:br/>
            <a:r>
              <a:t>GPS CEP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847088"/>
            <a:ext cx="4023360" cy="294436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19202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A8C5A"/>
                </a:solidFill>
                <a:latin typeface="Calibri"/>
              </a:defRPr>
            </a:pPr>
            <a:r>
              <a:t>ГОТОВО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3858768" cy="347472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2064" y="2395728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231343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capture.py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233172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368 стр. • EXIF GPS-тег • GPX • CSV • systemd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688336"/>
            <a:ext cx="3858768" cy="34747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12064" y="2798064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271576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rPr dirty="0"/>
              <a:t>upload.py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2734056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Выгрузка миссии • retry • SHA-256 контроль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090672"/>
            <a:ext cx="3858768" cy="347472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12064" y="3200400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3118103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schema.sql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1965960" y="3136391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PostGIS</a:t>
            </a:r>
            <a:r>
              <a:rPr dirty="0"/>
              <a:t> ERD • 4 </a:t>
            </a:r>
            <a:r>
              <a:rPr dirty="0" err="1"/>
              <a:t>таблицы</a:t>
            </a:r>
            <a:r>
              <a:rPr dirty="0"/>
              <a:t> • view </a:t>
            </a:r>
            <a:r>
              <a:rPr dirty="0" err="1"/>
              <a:t>GeoJSON</a:t>
            </a:r>
            <a:r>
              <a:rPr dirty="0"/>
              <a:t> • 6 </a:t>
            </a:r>
            <a:r>
              <a:rPr dirty="0" err="1"/>
              <a:t>классов</a:t>
            </a:r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411480" y="3493008"/>
            <a:ext cx="3858768" cy="34747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12064" y="3602736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" y="35204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rPr dirty="0"/>
              <a:t>install.sh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35387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rPr dirty="0" err="1"/>
              <a:t>Установка</a:t>
            </a:r>
            <a:r>
              <a:rPr dirty="0"/>
              <a:t> RPi Zero 2W • </a:t>
            </a:r>
            <a:r>
              <a:rPr dirty="0" err="1"/>
              <a:t>gpsd</a:t>
            </a:r>
            <a:r>
              <a:rPr dirty="0"/>
              <a:t> • </a:t>
            </a:r>
            <a:r>
              <a:rPr dirty="0" err="1"/>
              <a:t>systemd-сервис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411480" y="3895344"/>
            <a:ext cx="3858768" cy="347472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2064" y="4005072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" y="392277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Архитектура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1965960" y="3941063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3-уровневая схема спроектирована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297680"/>
            <a:ext cx="3858768" cy="34747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12064" y="4407408"/>
            <a:ext cx="128016" cy="128016"/>
          </a:xfrm>
          <a:prstGeom prst="ellipse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432511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rPr dirty="0"/>
              <a:t>ERD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4343400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Схема БД • связи • индексы GIST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80" y="1847088"/>
            <a:ext cx="4297680" cy="2944368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63440" y="19202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6C00"/>
                </a:solidFill>
                <a:latin typeface="Calibri"/>
              </a:defRPr>
            </a:pPr>
            <a:r>
              <a:t>СЛЕДУЮЩИЕ ШАГИ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2286000"/>
            <a:ext cx="4096512" cy="347472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709159" y="2395728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92040" y="231343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FastAPI сервер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1344" y="233172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Upload API + GET /markers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2688336"/>
            <a:ext cx="4096512" cy="34747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709159" y="2798064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92040" y="2715768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Celery worker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81344" y="2734056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YOLOv8 инференс → PostGIS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3090672"/>
            <a:ext cx="4096512" cy="347472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709159" y="3200400"/>
            <a:ext cx="128016" cy="128016"/>
          </a:xfrm>
          <a:prstGeom prst="ellipse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92040" y="3118103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Обучение модели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81344" y="3136391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Разметка датасета, 100+ эпох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3493008"/>
            <a:ext cx="4096512" cy="34747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4709159" y="3602736"/>
            <a:ext cx="128016" cy="128016"/>
          </a:xfrm>
          <a:prstGeom prst="ellipse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92040" y="3520439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ONNX экспорт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1344" y="3538728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Deploy на сервер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17720" y="3895344"/>
            <a:ext cx="4096512" cy="347472"/>
          </a:xfrm>
          <a:prstGeom prst="rect">
            <a:avLst/>
          </a:prstGeom>
          <a:solidFill>
            <a:srgbClr val="1E3A52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709159" y="4005072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892040" y="3922776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Leaflet-карта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81344" y="3941063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GeoJSON → интерактивные маркеры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17720" y="4297680"/>
            <a:ext cx="4096512" cy="347472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709159" y="4407408"/>
            <a:ext cx="128016" cy="128016"/>
          </a:xfrm>
          <a:prstGeom prst="ellipse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92040" y="4325112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81344" y="4343400"/>
            <a:ext cx="2423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A90A0"/>
                </a:solidFill>
                <a:latin typeface="Calibri"/>
              </a:defRPr>
            </a:pPr>
            <a:r>
              <a:t>Оркестрация всех сервисов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2743200"/>
            <a:ext cx="5029200" cy="5029200"/>
          </a:xfrm>
          <a:prstGeom prst="ellipse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760720" y="0"/>
            <a:ext cx="4114800" cy="4114800"/>
          </a:xfrm>
          <a:prstGeom prst="ellipse">
            <a:avLst/>
          </a:prstGeom>
          <a:solidFill>
            <a:srgbClr val="1E3A52"/>
          </a:solidFill>
          <a:ln>
            <a:solidFill>
              <a:srgbClr val="1E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8B8B"/>
                </a:solidFill>
                <a:latin typeface="Calibri"/>
              </a:defRPr>
            </a:pPr>
            <a: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Два модуля —</a:t>
            </a:r>
            <a:br/>
            <a:r>
              <a:t>одна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D6E4EE"/>
                </a:solidFill>
                <a:latin typeface="Calibri"/>
              </a:defRPr>
            </a:pPr>
            <a:r>
              <a:t>Дрон собирает. Сервер думает. Карта показывает.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834640"/>
            <a:ext cx="8503920" cy="45720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54864" cy="457200"/>
          </a:xfrm>
          <a:prstGeom prst="rect">
            <a:avLst/>
          </a:prstGeom>
          <a:solidFill>
            <a:srgbClr val="1F8B8B"/>
          </a:solidFill>
          <a:ln>
            <a:solidFill>
              <a:srgbClr val="1F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8B8B"/>
                </a:solidFill>
                <a:latin typeface="Calibri"/>
              </a:defRPr>
            </a:pPr>
            <a:r>
              <a:t>Дрон-носитель: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894076"/>
            <a:ext cx="6492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rPr dirty="0"/>
              <a:t>Omnibus F4 SD + BN-220 + ELRS + RPi Zero 2W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55848"/>
            <a:ext cx="8503920" cy="45720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3355848"/>
            <a:ext cx="54864" cy="457200"/>
          </a:xfrm>
          <a:prstGeom prst="rect">
            <a:avLst/>
          </a:prstGeom>
          <a:solidFill>
            <a:srgbClr val="D96C00"/>
          </a:solidFill>
          <a:ln>
            <a:solidFill>
              <a:srgbClr val="D9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3924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6C00"/>
                </a:solidFill>
                <a:latin typeface="Calibri"/>
              </a:defRPr>
            </a:pPr>
            <a:r>
              <a:t>Бортовой модуль: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341071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capture.py: EXIF GPS-тег, GPX-трек, CSV — без ML на борту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77056"/>
            <a:ext cx="8503920" cy="45720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877056"/>
            <a:ext cx="54864" cy="457200"/>
          </a:xfrm>
          <a:prstGeom prst="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7B5EA7"/>
                </a:solidFill>
                <a:latin typeface="Calibri"/>
              </a:defRPr>
            </a:pPr>
            <a:r>
              <a:t>Архитектура МЗ: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39319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rPr dirty="0"/>
              <a:t>3 </a:t>
            </a:r>
            <a:r>
              <a:rPr dirty="0" err="1"/>
              <a:t>уровня</a:t>
            </a:r>
            <a:r>
              <a:rPr dirty="0"/>
              <a:t>, </a:t>
            </a:r>
            <a:r>
              <a:rPr dirty="0" err="1"/>
              <a:t>PostGIS</a:t>
            </a:r>
            <a:r>
              <a:rPr dirty="0"/>
              <a:t> ERD </a:t>
            </a:r>
            <a:r>
              <a:rPr dirty="0" err="1"/>
              <a:t>спроектирована</a:t>
            </a:r>
            <a:r>
              <a:rPr dirty="0"/>
              <a:t>, API и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запланированы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320040" y="4398264"/>
            <a:ext cx="8503920" cy="457200"/>
          </a:xfrm>
          <a:prstGeom prst="rect">
            <a:avLst/>
          </a:prstGeom>
          <a:solidFill>
            <a:srgbClr val="1B2A3B"/>
          </a:solidFill>
          <a:ln>
            <a:solidFill>
              <a:srgbClr val="1B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398264"/>
            <a:ext cx="54864" cy="457200"/>
          </a:xfrm>
          <a:prstGeom prst="rect">
            <a:avLst/>
          </a:prstGeom>
          <a:solidFill>
            <a:srgbClr val="2A8C5A"/>
          </a:solidFill>
          <a:ln>
            <a:solidFill>
              <a:srgbClr val="2A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A8C5A"/>
                </a:solidFill>
                <a:latin typeface="Calibri"/>
              </a:defRPr>
            </a:pPr>
            <a:r>
              <a:t>Следующий шаг: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45312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6E4EE"/>
                </a:solidFill>
                <a:latin typeface="Calibri"/>
              </a:defRPr>
            </a:pPr>
            <a:r>
              <a:t>FastAPI + Celery + обучение YOLOv8 + Leaflet-карта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4050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8B8B"/>
                </a:solidFill>
                <a:latin typeface="Calibri"/>
              </a:defRPr>
            </a:pPr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  |  </a:t>
            </a:r>
            <a:r>
              <a:rPr dirty="0" err="1"/>
              <a:t>Вопросы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1229</Words>
  <Application>Microsoft Office PowerPoint</Application>
  <PresentationFormat>Экран (16:9)</PresentationFormat>
  <Paragraphs>291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Gerbera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arpetr777</dc:creator>
  <cp:keywords/>
  <dc:description>generated using python-pptx</dc:description>
  <cp:lastModifiedBy>arpetr777</cp:lastModifiedBy>
  <cp:revision>5</cp:revision>
  <dcterms:created xsi:type="dcterms:W3CDTF">2013-01-27T09:14:16Z</dcterms:created>
  <dcterms:modified xsi:type="dcterms:W3CDTF">2026-06-17T07:01:29Z</dcterms:modified>
  <cp:category/>
</cp:coreProperties>
</file>